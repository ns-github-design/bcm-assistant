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80160" y="822960"/>
            <a:ext cx="4754880" cy="4754880"/>
          </a:xfrm>
          <a:prstGeom prst="ellipse">
            <a:avLst/>
          </a:prstGeom>
          <a:solidFill>
            <a:srgbClr val="ECE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45920" y="1371600"/>
            <a:ext cx="3474720" cy="3474720"/>
          </a:xfrm>
          <a:prstGeom prst="ellipse">
            <a:avLst/>
          </a:prstGeom>
          <a:solidFill>
            <a:srgbClr val="C7B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94560" y="2011680"/>
            <a:ext cx="2011680" cy="2011680"/>
          </a:xfrm>
          <a:prstGeom prst="ellipse">
            <a:avLst/>
          </a:prstGeom>
          <a:solidFill>
            <a:srgbClr val="8E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14141F"/>
                </a:solidFill>
                <a:latin typeface="Calibri"/>
              </a:rPr>
              <a:t>Presented by Devi Priya &amp; Nasreen Sarah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651760"/>
            <a:ext cx="15875" cy="2377440"/>
          </a:xfrm>
          <a:prstGeom prst="rect">
            <a:avLst/>
          </a:prstGeom>
          <a:solidFill>
            <a:srgbClr val="14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7889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14141F"/>
                </a:solidFill>
                <a:latin typeface="Cambria"/>
              </a:rPr>
              <a:t>AI BCM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48463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55566"/>
                </a:solidFill>
                <a:latin typeface="Calibri"/>
              </a:rPr>
              <a:t>An agentic copilot for Business Continuity &amp; FinOps on Azure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5BE3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4141F"/>
                </a:solidFill>
                <a:latin typeface="Calibri"/>
              </a:rPr>
              <a:t>DR planning is slow, manual, and expensive.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55566"/>
                </a:solidFill>
                <a:latin typeface="Calibri"/>
              </a:rPr>
              <a:t>Banks pay for Active-Active DR they don't always need — and still can't prove BCM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73152" cy="1645920"/>
          </a:xfrm>
          <a:prstGeom prst="rect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41F"/>
                </a:solidFill>
                <a:latin typeface="Calibri"/>
              </a:rPr>
              <a:t>Spreadsheets &amp;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Architects, FinOps and BCM teams work in separate tools. Tier, RTO, RPO and cost decisions live in disconnected SMDB / CMDB / budget sheets.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468880"/>
            <a:ext cx="73152" cy="1645920"/>
          </a:xfrm>
          <a:prstGeom prst="rect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3347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41F"/>
                </a:solidFill>
                <a:latin typeface="Calibri"/>
              </a:rPr>
              <a:t>Standby idle 99% of the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06324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DR environments are provisioned identical to prod and run 24×7 — burning budget on capacity that is only used during a real failover.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73152" cy="1645920"/>
          </a:xfrm>
          <a:prstGeom prst="rect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6227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41F"/>
                </a:solidFill>
                <a:latin typeface="Calibri"/>
              </a:rPr>
              <a:t>Compliance as an afterthought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9204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Pilot Light, Warm Standby, Active-Active — choosing the right pattern per service is a multi-week consulting exercise. Audits suffer.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297680"/>
            <a:ext cx="539496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73152" cy="1645920"/>
          </a:xfrm>
          <a:prstGeom prst="rect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46227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41F"/>
                </a:solidFill>
                <a:latin typeface="Calibri"/>
              </a:rPr>
              <a:t>No single source of truth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9204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Cost Mgmt, ARM, Entra, BCM Catalogue, Approval Portal — five tools, five exports, zero traceability.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AI BCM ASSISTANT  ·  Devi Priya &amp; Nasreen Sarah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5BE3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4141F"/>
                </a:solidFill>
                <a:latin typeface="Calibri"/>
              </a:rPr>
              <a:t>An agent that walks you from inventory to approved DR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55566"/>
                </a:solidFill>
                <a:latin typeface="Calibri"/>
              </a:rPr>
              <a:t>Conversational. Auditable. Backed by your real Azure data and BCM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517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73152" cy="3291840"/>
          </a:xfrm>
          <a:prstGeom prst="rect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163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41F"/>
                </a:solidFill>
                <a:latin typeface="Calibri"/>
              </a:rPr>
              <a:t>Conversational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Plain-English chat replaces six dashboards. The agent asks for the service name and subscription — the rest is automatic.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651760"/>
            <a:ext cx="73152" cy="329184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8163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41F"/>
                </a:solidFill>
                <a:latin typeface="Calibri"/>
              </a:rPr>
              <a:t>Pilot Light by 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24612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Per-resource DR strategy: pre-provision, replicate, rebuild on demand or native DR — costed and RTO-checked.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26517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2651760"/>
            <a:ext cx="73152" cy="3291840"/>
          </a:xfrm>
          <a:prstGeom prst="rect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28163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41F"/>
                </a:solidFill>
                <a:latin typeface="Calibri"/>
              </a:rPr>
              <a:t>Stage-driven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3246120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55566"/>
                </a:solidFill>
                <a:latin typeface="Calibri"/>
              </a:rPr>
              <a:t>Six guided stages: Analyse, Set RTO/RPO, Adopt Pilot Light, Cost &amp; Approval, BCM Test, Go to Production.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AI BCM ASSISTANT  ·  Devi Priya &amp; Nasreen Sarah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5BE3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41F"/>
                </a:solidFill>
                <a:latin typeface="Calibri"/>
              </a:rPr>
              <a:t>Three tiers, one agent loop.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76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Frontend  ·  React +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78608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Chat UI with 6 workflow stages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Live SSE stream of agent events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Right-side service context panel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Demo mode for offline walkthroughs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76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Backend  · 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78608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/api/assess — SSE assessment stream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/api/chat — follow-up Q&amp;A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Pilot Light strategy engine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Pydantic schemas, mock + live modes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7627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Agent  ·  GitHub Copilot SDK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78608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CopilotClient over JSON-RPC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gpt-4.1 with streaming reasoning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4 typed tools (Pydantic)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• System prompt = BCM playbook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23360" y="3108960"/>
            <a:ext cx="411480" cy="0"/>
          </a:xfrm>
          <a:prstGeom prst="bentConnector3">
            <a:avLst/>
          </a:prstGeom>
          <a:ln w="19050">
            <a:solidFill>
              <a:srgbClr val="55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18120" y="3108960"/>
            <a:ext cx="411480" cy="0"/>
          </a:xfrm>
          <a:prstGeom prst="bentConnector3">
            <a:avLst/>
          </a:prstGeom>
          <a:ln w="19050">
            <a:solidFill>
              <a:srgbClr val="55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526280"/>
            <a:ext cx="109728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6B5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Data sources &amp;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93208"/>
            <a:ext cx="10607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Tools:  assess_azure_resources  ·  get_budget_status  ·  query_cmdb  ·  suggest_pilot_light_plan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Sources:  Azure ARM  ·  Cost Mgmt  ·  Entra ID  ·  SMDB  ·  CMDB  ·  BCM Catalogue  ·  Approval Portal</a:t>
            </a:r>
          </a:p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Today: mock-first demo data    →    Tomorrow: live Azure SDK + 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AI BCM ASSISTANT  ·  Devi Priya &amp; Nasreen Sarah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5BE3"/>
                </a:solidFill>
                <a:latin typeface="Calibri"/>
              </a:rPr>
              <a:t>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41F"/>
                </a:solidFill>
                <a:latin typeface="Calibri"/>
              </a:rPr>
              <a:t>Six guided stages, one conversation.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957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423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Analyse my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Connect to Azure, scan subs &amp; assets, full financial comparison.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2395728"/>
            <a:ext cx="502920" cy="502920"/>
          </a:xfrm>
          <a:prstGeom prst="ellipse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423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Set RTO &amp; RPO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632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Pull SMDB, validate tier, set RPO in business language.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59" y="219456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39" y="2395728"/>
            <a:ext cx="502920" cy="502920"/>
          </a:xfrm>
          <a:prstGeom prst="ellipse">
            <a:avLst/>
          </a:prstGeom>
          <a:solidFill>
            <a:srgbClr val="6B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9" y="23957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39" y="24231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Adopt Pilot 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30632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Fit-gap vs BCM Catalogue, deliverables per service.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02336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224528"/>
            <a:ext cx="502920" cy="502920"/>
          </a:xfrm>
          <a:prstGeom prst="ellipse">
            <a:avLst/>
          </a:prstGeom>
          <a:solidFill>
            <a:srgbClr val="E6E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245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B5BE3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519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Cost &amp;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92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Final cost, savings, stakeholder sign-off.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02336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0" y="4224528"/>
            <a:ext cx="502920" cy="502920"/>
          </a:xfrm>
          <a:prstGeom prst="ellipse">
            <a:avLst/>
          </a:prstGeom>
          <a:solidFill>
            <a:srgbClr val="E6E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42245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B5BE3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42519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BCM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92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Auto test plan, failover execution, compliance report.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59" y="4023360"/>
            <a:ext cx="36118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21039" y="4224528"/>
            <a:ext cx="502920" cy="502920"/>
          </a:xfrm>
          <a:prstGeom prst="ellipse">
            <a:avLst/>
          </a:prstGeom>
          <a:solidFill>
            <a:srgbClr val="E6E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39" y="42245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6B5BE3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39" y="425196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Go to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4892040"/>
            <a:ext cx="3246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Pre-prod checklist, go-live, rollback plan.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AI BCM ASSISTANT  ·  Devi Priya &amp; Nasreen Sarah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06640" y="1005840"/>
            <a:ext cx="4389120" cy="4389120"/>
          </a:xfrm>
          <a:prstGeom prst="ellipse">
            <a:avLst/>
          </a:prstGeom>
          <a:solidFill>
            <a:srgbClr val="ECE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1737360"/>
            <a:ext cx="2926080" cy="2926080"/>
          </a:xfrm>
          <a:prstGeom prst="ellipse">
            <a:avLst/>
          </a:prstGeom>
          <a:solidFill>
            <a:srgbClr val="C7B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5BE3"/>
                </a:solidFill>
                <a:latin typeface="Calibri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600" b="1">
                <a:solidFill>
                  <a:srgbClr val="14141F"/>
                </a:solidFill>
                <a:latin typeface="Cambria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55566"/>
                </a:solidFill>
                <a:latin typeface="Calibri"/>
              </a:rPr>
              <a:t>IB Investment Research API  ·  subscription UBS-IB-PROD-WEU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B5BE3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54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Analyse the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18211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Subscriptions, assets and a full financial picture in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B5BE3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See the pain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82219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DR standby running 24/7, $100k over budget.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B5BE3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Adopt Pilot 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46227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Per-service strategy + $545k projected annual saving.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B5BE3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Agent reasoning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510235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55566"/>
                </a:solidFill>
                <a:latin typeface="Calibri"/>
              </a:rPr>
              <a:t>Watch the thinking trace and the right-side context update live.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AI BCM ASSISTANT  ·  Devi Priya &amp; Nasreen Sarah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5BE3"/>
                </a:solidFill>
                <a:latin typeface="Calibri"/>
              </a:rPr>
              <a:t>DEMO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41F"/>
                </a:solidFill>
                <a:latin typeface="Calibri"/>
              </a:rPr>
              <a:t>What you'll see on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14141F"/>
                </a:solidFill>
                <a:latin typeface="Calibri"/>
              </a:rPr>
              <a:t>$1.3M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Current annual 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19456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5146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DC2E2E"/>
                </a:solidFill>
                <a:latin typeface="Calibri"/>
              </a:rPr>
              <a:t>108%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3832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Budget utilisation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19456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6B5BE3"/>
                </a:solidFill>
                <a:latin typeface="Calibri"/>
              </a:rPr>
              <a:t>$755k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Pilot Light target / yr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194560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51460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>
                <a:solidFill>
                  <a:srgbClr val="16A34A"/>
                </a:solidFill>
                <a:latin typeface="Calibri"/>
              </a:rPr>
              <a:t>↓ $545k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3832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555566"/>
                </a:solidFill>
                <a:latin typeface="Calibri"/>
              </a:rPr>
              <a:t>Projected 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41F"/>
                </a:solidFill>
                <a:latin typeface="Calibri"/>
              </a:rPr>
              <a:t>Key findings the agent surfaces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E2E"/>
                </a:solidFill>
                <a:latin typeface="Calibr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274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DR standby (NEU) runs 24/7 — idle 99% of the time, costs the same as prod.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E2E"/>
                </a:solidFill>
                <a:latin typeface="Calibri"/>
              </a:rPr>
              <a:t>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932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$100k over budget at 108% of approved $1.2M.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589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Key Vault + Entra ID — always-on, low cost, no action needed.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06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247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Storage GRS — geo-redundancy built-in, fully Pilot Light compatible.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AI BCM ASSISTANT  ·  Devi Priya &amp; Nasreen Sarah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5BE3"/>
                </a:solidFill>
                <a:latin typeface="Calibri"/>
              </a:rPr>
              <a:t>TECH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4141F"/>
                </a:solidFill>
                <a:latin typeface="Calibri"/>
              </a:rPr>
              <a:t>Built on the GitHub Copilot SDK.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6B5BE3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•  Frontend   ·  React 18, Vite, Zustand, Tailwind, react-router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•  Backend    ·  FastAPI, Pydantic v2, sse-starlette, Python 3.11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•  Agent      ·  GitHub Copilot SDK + CLI (JSON-RPC), gpt-4.1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•  Tools      ·  4 typed tools with progress streaming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•  Hosting    ·  Azure Container Apps (frontend + backend)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148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4141F"/>
                </a:solidFill>
                <a:latin typeface="Calibri"/>
              </a:rPr>
              <a:t>•  Future     ·  Live Azure SDK discovery, MCP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8A3D"/>
                </a:solidFill>
                <a:latin typeface="Calibri"/>
              </a:rPr>
              <a:t>What's 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41F"/>
                </a:solidFill>
                <a:latin typeface="Calibri"/>
              </a:rPr>
              <a:t>›  Live Azure 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57860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Replace mock data with ARM + Cost Mgmt SDK calls.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41F"/>
                </a:solidFill>
                <a:latin typeface="Calibri"/>
              </a:rPr>
              <a:t>›  Stages 4–6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335584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Cost &amp; approval, BCM test execution, go-live checklist.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840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41F"/>
                </a:solidFill>
                <a:latin typeface="Calibri"/>
              </a:rPr>
              <a:t>›  MCP server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41330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Expose tools to other agents via Model Context Protocol.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177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41F"/>
                </a:solidFill>
                <a:latin typeface="Calibri"/>
              </a:rPr>
              <a:t>›  Persistent sessions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91032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566"/>
                </a:solidFill>
                <a:latin typeface="Calibri"/>
              </a:rPr>
              <a:t>Multi-turn memory and audit trail per service.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55566"/>
                </a:solidFill>
                <a:latin typeface="Calibri"/>
              </a:rPr>
              <a:t>AI BCM ASSISTANT  ·  Devi Priya &amp; Nasreen Sarah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55566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529584" y="731520"/>
            <a:ext cx="5120640" cy="5120640"/>
          </a:xfrm>
          <a:prstGeom prst="ellipse">
            <a:avLst/>
          </a:prstGeom>
          <a:solidFill>
            <a:srgbClr val="ECE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52544" y="1554480"/>
            <a:ext cx="3474720" cy="3474720"/>
          </a:xfrm>
          <a:prstGeom prst="ellipse">
            <a:avLst/>
          </a:prstGeom>
          <a:solidFill>
            <a:srgbClr val="C7B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75504" y="2377440"/>
            <a:ext cx="1828800" cy="1828800"/>
          </a:xfrm>
          <a:prstGeom prst="ellipse">
            <a:avLst/>
          </a:prstGeom>
          <a:solidFill>
            <a:srgbClr val="8E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194560"/>
            <a:ext cx="1218895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0" b="1">
                <a:solidFill>
                  <a:srgbClr val="14141F"/>
                </a:solidFill>
                <a:latin typeface="Cambria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889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555566"/>
                </a:solidFill>
                <a:latin typeface="Calibri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55566"/>
                </a:solidFill>
                <a:latin typeface="Calibri"/>
              </a:rPr>
              <a:t>Devi Priya  ·  Nasreen Sarah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